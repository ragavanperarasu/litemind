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E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9FC7DD"/>
                </a:solidFill>
                <a:latin typeface="Segoe UI Semibold"/>
              </a:rPr>
              <a:t>GOVERNMENT COLLEGE OF TECHNOLOGY, COIMBATORE - 13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9FC7DD"/>
                </a:solidFill>
                <a:latin typeface="Segoe UI Semibold"/>
              </a:rPr>
              <a:t>DEPARTMENT OF COMPUTER SCIENCE AND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298448"/>
            <a:ext cx="822960" cy="3657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D97E24"/>
                </a:solidFill>
                <a:latin typeface="Segoe UI Semibold"/>
              </a:rPr>
              <a:t>22SEE704  · 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LiteMind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44368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D6E7F2"/>
                </a:solidFill>
                <a:latin typeface="Segoe UI Semibold"/>
              </a:rPr>
              <a:t>Offline Mixture-of-Experts Language Model Inference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D6E7F2"/>
                </a:solidFill>
                <a:latin typeface="Segoe UI Semibold"/>
              </a:rPr>
              <a:t>on Ordinary CPU Laptops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9FC7DD"/>
                </a:solidFill>
                <a:latin typeface="Segoe UI"/>
              </a:rPr>
              <a:t>Running a 15.7-billion-parameter model on 8-16 GB of RAM, with no GPU,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9FC7DD"/>
                </a:solidFill>
                <a:latin typeface="Segoe UI"/>
              </a:rPr>
              <a:t>no internet and no recurring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38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FA9C4"/>
                </a:solidFill>
                <a:latin typeface="Segoe UI Semibold"/>
              </a:rPr>
              <a:t>REVIEW  1  &amp;  2   ·   B.E. CSE, VII SEMESTER   ·   2023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FA9C4"/>
                </a:solidFill>
                <a:latin typeface="Segoe UI Semibold"/>
              </a:rPr>
              <a:t>ACADEMIC YEAR 2026 - 2027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8686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D97E24"/>
                </a:solidFill>
                <a:latin typeface="Segoe UI Semibold"/>
              </a:rPr>
              <a:t>PROJECT GUIDE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207008"/>
            <a:ext cx="640080" cy="32004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1444752"/>
            <a:ext cx="4069080" cy="786384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276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____________________________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92024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FC7DD"/>
                </a:solidFill>
                <a:latin typeface="Segoe UI"/>
              </a:rPr>
              <a:t>Designation /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61518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D97E24"/>
                </a:solidFill>
                <a:latin typeface="Segoe UI Semibold"/>
              </a:rPr>
              <a:t>TEAM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953512"/>
            <a:ext cx="640080" cy="32004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3218688"/>
            <a:ext cx="274320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325983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3236976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_______________________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3529584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8D2"/>
                </a:solidFill>
                <a:latin typeface="Segoe UI"/>
              </a:rPr>
              <a:t>Roll No. 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3822191"/>
            <a:ext cx="274320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3863339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8704" y="3840479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_______________________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4133087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8D2"/>
                </a:solidFill>
                <a:latin typeface="Segoe UI"/>
              </a:rPr>
              <a:t>Roll No. 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4425696"/>
            <a:ext cx="274320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446684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4443983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73659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8D2"/>
                </a:solidFill>
                <a:latin typeface="Segoe UI"/>
              </a:rPr>
              <a:t>Roll No. ______________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029200"/>
            <a:ext cx="274320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5070348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8704" y="504748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_______________________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534009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8D2"/>
                </a:solidFill>
                <a:latin typeface="Segoe UI"/>
              </a:rPr>
              <a:t>Roll No. ______________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5632704"/>
            <a:ext cx="274320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5673852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565099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_______________________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594360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8D2"/>
                </a:solidFill>
                <a:latin typeface="Segoe UI"/>
              </a:rPr>
              <a:t>Roll No.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1  ·  CO1  ·  THE COMMUNITY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Problem Identification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73352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41B25"/>
                </a:solidFill>
                <a:latin typeface="Segoe UI Semibold"/>
              </a:rPr>
              <a:t>Capable AI is locked behind hardware. </a:t>
            </a:r>
            <a:r>
              <a:rPr sz="1450">
                <a:solidFill>
                  <a:srgbClr val="374553"/>
                </a:solidFill>
                <a:latin typeface="Segoe UI"/>
              </a:rPr>
              <a:t>Open models of useful quality need 32-80 GB of GPU memory. A single such GPU costs more than an entire computer lab.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578608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59736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41B25"/>
                </a:solidFill>
                <a:latin typeface="Segoe UI Semibold"/>
              </a:rPr>
              <a:t>The alternative is a metered cloud API. </a:t>
            </a:r>
            <a:r>
              <a:rPr sz="1450">
                <a:solidFill>
                  <a:srgbClr val="374553"/>
                </a:solidFill>
                <a:latin typeface="Segoe UI"/>
              </a:rPr>
              <a:t>It bills per token forever, and every prompt leaves the premises.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64992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46120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41B25"/>
                </a:solidFill>
                <a:latin typeface="Segoe UI Semibold"/>
              </a:rPr>
              <a:t>Our community does not have either. </a:t>
            </a:r>
            <a:r>
              <a:rPr sz="1450">
                <a:solidFill>
                  <a:srgbClr val="374553"/>
                </a:solidFill>
                <a:latin typeface="Segoe UI"/>
              </a:rPr>
              <a:t>Government schools, rural clinics, small NGOs and self-help groups run 8-16 GB laptops with integrated graphics and intermittent internet.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389120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70248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41B25"/>
                </a:solidFill>
                <a:latin typeface="Segoe UI Semibold"/>
              </a:rPr>
              <a:t>Some data must not leave the room. </a:t>
            </a:r>
            <a:r>
              <a:rPr sz="1450">
                <a:solidFill>
                  <a:srgbClr val="374553"/>
                </a:solidFill>
                <a:latin typeface="Segoe UI"/>
              </a:rPr>
              <a:t>Student records, patient notes and legal-aid case details cannot be sent to a third-party server.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8" y="1645920"/>
            <a:ext cx="4535424" cy="2103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7728" y="1645920"/>
            <a:ext cx="50292" cy="21031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847088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B2E4F"/>
                </a:solidFill>
                <a:latin typeface="Segoe UI Semibold"/>
              </a:rPr>
              <a:t>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2212848"/>
            <a:ext cx="3986784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74553"/>
                </a:solidFill>
                <a:latin typeface="Segoe UI"/>
              </a:rPr>
              <a:t>Can a 15.7-billion-parameter mixture-of-experts language model be made to run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74553"/>
                </a:solidFill>
                <a:latin typeface="Segoe UI"/>
              </a:rPr>
              <a:t>usefully on an ordinary CPU laptop - fully offline, within 8-16 GB of RAM,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74553"/>
                </a:solidFill>
                <a:latin typeface="Segoe UI"/>
              </a:rPr>
              <a:t>at zero recurring cost?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7728" y="3986784"/>
            <a:ext cx="1033271" cy="969264"/>
          </a:xfrm>
          <a:prstGeom prst="rect">
            <a:avLst/>
          </a:prstGeom>
          <a:solidFill>
            <a:srgbClr val="E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160520"/>
            <a:ext cx="1033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2E4F"/>
                </a:solidFill>
                <a:latin typeface="Segoe UI Semibold"/>
              </a:rPr>
              <a:t>31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4517136"/>
            <a:ext cx="923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6B7A89"/>
                </a:solidFill>
                <a:latin typeface="Segoe UI"/>
              </a:rPr>
              <a:t>checkpoint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986784"/>
            <a:ext cx="1033271" cy="969264"/>
          </a:xfrm>
          <a:prstGeom prst="rect">
            <a:avLst/>
          </a:prstGeom>
          <a:solidFill>
            <a:srgbClr val="E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160520"/>
            <a:ext cx="1033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2E4F"/>
                </a:solidFill>
                <a:latin typeface="Segoe UI Semibold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517136"/>
            <a:ext cx="923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6B7A89"/>
                </a:solidFill>
                <a:latin typeface="Segoe UI"/>
              </a:rPr>
              <a:t>GPUs 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08592" y="3986784"/>
            <a:ext cx="1033271" cy="969264"/>
          </a:xfrm>
          <a:prstGeom prst="rect">
            <a:avLst/>
          </a:prstGeom>
          <a:solidFill>
            <a:srgbClr val="E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4160520"/>
            <a:ext cx="1033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2E4F"/>
                </a:solidFill>
                <a:latin typeface="Segoe UI Semibold"/>
              </a:rPr>
              <a:t>8-16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4517136"/>
            <a:ext cx="923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6B7A89"/>
                </a:solidFill>
                <a:latin typeface="Segoe UI"/>
              </a:rPr>
              <a:t>typical lab 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79024" y="3986784"/>
            <a:ext cx="1033271" cy="969264"/>
          </a:xfrm>
          <a:prstGeom prst="rect">
            <a:avLst/>
          </a:prstGeom>
          <a:solidFill>
            <a:srgbClr val="E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79024" y="4160520"/>
            <a:ext cx="1033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2E4F"/>
                </a:solidFill>
                <a:latin typeface="Segoe UI Semibold"/>
              </a:rPr>
              <a:t>Rs.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33888" y="4517136"/>
            <a:ext cx="923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6B7A89"/>
                </a:solidFill>
                <a:latin typeface="Segoe UI"/>
              </a:rPr>
              <a:t>target running 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212080"/>
            <a:ext cx="10817352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212080"/>
            <a:ext cx="50292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4132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B2E4F"/>
                </a:solidFill>
                <a:latin typeface="Segoe UI Semibold"/>
              </a:rPr>
              <a:t>The gap is not model quality - open weights are free. The gap is that every runtime assumes the whole model fits in fast memory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1  ·  CO2  ·  WHAT EXISTS AND WHAT IT MISSES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27632"/>
            <a:ext cx="10817352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709928"/>
            <a:ext cx="22191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Work /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7260" y="1709928"/>
            <a:ext cx="29525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97" y="1709928"/>
            <a:ext cx="487762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Limitation for our community setting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011680"/>
            <a:ext cx="10817352" cy="4617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11680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061972"/>
            <a:ext cx="221912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141B25"/>
                </a:solidFill>
                <a:latin typeface="Segoe UI Semibold"/>
              </a:rPr>
              <a:t>llama.cpp, GGUF (2023-24)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7260" y="2061972"/>
            <a:ext cx="295250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Quantised CPU inference, 4-8 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797" y="2061972"/>
            <a:ext cx="4877626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Whole model must fit in RAM; quantisation costs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73452"/>
            <a:ext cx="10817352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473452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2523744"/>
            <a:ext cx="221912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141B25"/>
                </a:solidFill>
                <a:latin typeface="Segoe UI Semibold"/>
              </a:rPr>
              <a:t>ZeRO-Inference, DeepSpeed (2022)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7260" y="2523744"/>
            <a:ext cx="295250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Offload weights to CPU / NVMe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797" y="2523744"/>
            <a:ext cx="4877626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A GPU is still mandatory; Linux-centric, heavy dependencies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35224"/>
            <a:ext cx="10817352" cy="4617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35224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2985516"/>
            <a:ext cx="221912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141B25"/>
                </a:solidFill>
                <a:latin typeface="Segoe UI Semibold"/>
              </a:rPr>
              <a:t>FlexGen (ICML 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7260" y="2985516"/>
            <a:ext cx="295250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Throughput-oriented offloading, OPT-175B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797" y="2985516"/>
            <a:ext cx="4877626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Optimised for large batches, not interactive single-user 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396996"/>
            <a:ext cx="10817352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396996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3447288"/>
            <a:ext cx="221912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141B25"/>
                </a:solidFill>
                <a:latin typeface="Segoe UI Semibold"/>
              </a:rPr>
              <a:t>Mixtral 8x7B / DeepSeek-V2 (2024)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7260" y="3447288"/>
            <a:ext cx="295250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Sparse MoE - few experts active per 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797" y="3447288"/>
            <a:ext cx="4877626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Reference runtimes still keep all expert weights resident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858768"/>
            <a:ext cx="10817352" cy="4617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858768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3909059"/>
            <a:ext cx="221912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141B25"/>
                </a:solidFill>
                <a:latin typeface="Segoe UI Semibold"/>
              </a:rPr>
              <a:t>Ollama, LM Studio (2024)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7260" y="3909059"/>
            <a:ext cx="295250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One-click local model runners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5797" y="3909059"/>
            <a:ext cx="4877626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Restricted to models that fit in RAM; no expert-level paging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320540"/>
            <a:ext cx="10817352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320540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" y="4370831"/>
            <a:ext cx="221912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141B25"/>
                </a:solidFill>
                <a:latin typeface="Segoe UI Semibold"/>
              </a:rPr>
              <a:t>PowerInfer, LLM in a Flash (2023-24)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7260" y="4370831"/>
            <a:ext cx="2952504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Hot / cold neuron split, flash streaming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797" y="4370831"/>
            <a:ext cx="4877626" cy="461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374553"/>
                </a:solidFill>
                <a:latin typeface="Segoe UI"/>
              </a:rPr>
              <a:t>Dense models or GPU-assisted; MoE routing not exploited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782312"/>
            <a:ext cx="10817352" cy="2743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956048"/>
            <a:ext cx="10817352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4956048"/>
            <a:ext cx="50292" cy="11887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" y="51389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RESEARCH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5449824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74553"/>
                </a:solidFill>
                <a:latin typeface="Segoe UI"/>
              </a:rPr>
              <a:t>No existing runtime uses mixture-of-experts sparsity as a paging strategy. A token touches only ~10% of the expert weights, yet every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74553"/>
                </a:solidFill>
                <a:latin typeface="Segoe UI"/>
              </a:rPr>
              <a:t>system loads 100% of them. Nothing targets a dependency-free, CPU-only, Windows-first build for institutions with no GPU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1  ·  CO2  ·  DESIGN IDEA AND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B2E4F"/>
                </a:solidFill>
                <a:latin typeface="Segoe UI Semibold"/>
              </a:rPr>
              <a:t>Turn the model's own routing decisions into a paging policy: keep the weights on the SSD and let the router say what to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12848"/>
            <a:ext cx="2587752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212848"/>
            <a:ext cx="50292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414016"/>
            <a:ext cx="2039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B2E4F"/>
                </a:solidFill>
                <a:latin typeface="Segoe UI Semibold"/>
              </a:rPr>
              <a:t>Memory-map, never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779776"/>
            <a:ext cx="203911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The 31 GB checkpoint is mapped from disk. Only norm vectors and router gates (~15 MB) are ever copied into 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12848"/>
            <a:ext cx="2587752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212848"/>
            <a:ext cx="50292" cy="1874519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414016"/>
            <a:ext cx="2039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B2E4F"/>
                </a:solidFill>
                <a:latin typeface="Segoe UI Semibold"/>
              </a:rPr>
              <a:t>Route, then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779776"/>
            <a:ext cx="203911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Each layer's router scores 64 experts and picks the top 6. Only those 6 (~17 MB each) are paged in for that token.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12848"/>
            <a:ext cx="2587752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212848"/>
            <a:ext cx="50292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414016"/>
            <a:ext cx="2039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B2E4F"/>
                </a:solidFill>
                <a:latin typeface="Segoe UI Semibold"/>
              </a:rPr>
              <a:t>Bounded LRU expert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779776"/>
            <a:ext cx="203911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--expert-cache N caps resident experts at N GB. Beyond the cap, least-recently-used experts are released to the SSD.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2212848"/>
            <a:ext cx="2587752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212848"/>
            <a:ext cx="50292" cy="1874519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414016"/>
            <a:ext cx="2039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B2E4F"/>
                </a:solidFill>
                <a:latin typeface="Segoe UI Semibold"/>
              </a:rPr>
              <a:t>Zero third-party libraries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779776"/>
            <a:ext cx="2039112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C++20 only. No BLAS, no vcpkg, no Python at runtime. Hand-vectorised AVX2 BF16 kernels with a portable fallback.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43984"/>
            <a:ext cx="10817352" cy="17007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6451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WHY THIS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974336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6E7F2"/>
                </a:solidFill>
                <a:latin typeface="Segoe UI"/>
              </a:rPr>
              <a:t>DeepSeek-V2-Lite holds 15.7 B parameters but activates only 2.4 B per token.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6E7F2"/>
                </a:solidFill>
                <a:latin typeface="Segoe UI"/>
              </a:rPr>
              <a:t>About one tenth of the expert weights decide any single token, so residency can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6E7F2"/>
                </a:solidFill>
                <a:latin typeface="Segoe UI"/>
              </a:rPr>
              <a:t>track the working set instead of the whole checkpoint.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4663440"/>
            <a:ext cx="1490472" cy="1280160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846320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~2.6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79" y="5230368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FC7DD"/>
                </a:solidFill>
                <a:latin typeface="Segoe UI"/>
              </a:rPr>
              <a:t>always hot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FC7DD"/>
                </a:solidFill>
                <a:latin typeface="Segoe UI"/>
              </a:rPr>
              <a:t>(mapped, resident)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8471" y="4663440"/>
            <a:ext cx="1490472" cy="1280160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4846320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~29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1" y="5230368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FC7DD"/>
                </a:solidFill>
                <a:latin typeface="Segoe UI"/>
              </a:rPr>
              <a:t>routed experts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FC7DD"/>
                </a:solidFill>
                <a:latin typeface="Segoe UI"/>
              </a:rPr>
              <a:t>(streamed on demand)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76103" y="4663440"/>
            <a:ext cx="1490472" cy="1280160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76103" y="4846320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~10%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7543" y="5230368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FC7DD"/>
                </a:solidFill>
                <a:latin typeface="Segoe UI"/>
              </a:rPr>
              <a:t>of experts touched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FC7DD"/>
                </a:solidFill>
                <a:latin typeface="Segoe UI"/>
              </a:rPr>
              <a:t>per 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1  ·  CO2  ·  ARCHITECTURE AND TOKEN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4208"/>
            <a:ext cx="1975104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64208"/>
            <a:ext cx="1975104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1810512"/>
            <a:ext cx="274320" cy="27432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8516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1856231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TOKENIZE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249424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Byte-level BPE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from tokenizer.json</a:t>
            </a:r>
          </a:p>
        </p:txBody>
      </p:sp>
      <p:sp>
        <p:nvSpPr>
          <p:cNvPr id="15" name="Right Triangle 14"/>
          <p:cNvSpPr/>
          <p:nvPr/>
        </p:nvSpPr>
        <p:spPr>
          <a:xfrm rot="16200000">
            <a:off x="2715768" y="2194560"/>
            <a:ext cx="182880" cy="237744"/>
          </a:xfrm>
          <a:prstGeom prst="rtTriangl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8648" y="1664208"/>
            <a:ext cx="1975104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8648" y="1664208"/>
            <a:ext cx="1975104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4952" y="1810512"/>
            <a:ext cx="274320" cy="27432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18516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1856231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PREFILL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2249424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One position at a time,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filling the KV cache</a:t>
            </a:r>
          </a:p>
        </p:txBody>
      </p:sp>
      <p:sp>
        <p:nvSpPr>
          <p:cNvPr id="22" name="Right Triangle 21"/>
          <p:cNvSpPr/>
          <p:nvPr/>
        </p:nvSpPr>
        <p:spPr>
          <a:xfrm rot="16200000">
            <a:off x="4928616" y="2194560"/>
            <a:ext cx="182880" cy="237744"/>
          </a:xfrm>
          <a:prstGeom prst="rtTriangl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11496" y="1664208"/>
            <a:ext cx="1975104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496" y="1664208"/>
            <a:ext cx="1975104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1810512"/>
            <a:ext cx="274320" cy="27432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18516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1856231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PER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249424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Attention, router,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expert execution</a:t>
            </a:r>
          </a:p>
        </p:txBody>
      </p:sp>
      <p:sp>
        <p:nvSpPr>
          <p:cNvPr id="29" name="Right Triangle 28"/>
          <p:cNvSpPr/>
          <p:nvPr/>
        </p:nvSpPr>
        <p:spPr>
          <a:xfrm rot="16200000">
            <a:off x="7141464" y="2194560"/>
            <a:ext cx="182880" cy="237744"/>
          </a:xfrm>
          <a:prstGeom prst="rtTriangl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4344" y="1664208"/>
            <a:ext cx="1975104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24344" y="1664208"/>
            <a:ext cx="1975104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70648" y="1810512"/>
            <a:ext cx="274320" cy="27432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648" y="18516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1856231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SAMPLE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249424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Greedy, or temperature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/ top-k / top-p</a:t>
            </a:r>
          </a:p>
        </p:txBody>
      </p:sp>
      <p:sp>
        <p:nvSpPr>
          <p:cNvPr id="36" name="Right Triangle 35"/>
          <p:cNvSpPr/>
          <p:nvPr/>
        </p:nvSpPr>
        <p:spPr>
          <a:xfrm rot="16200000">
            <a:off x="9354312" y="2194560"/>
            <a:ext cx="182880" cy="237744"/>
          </a:xfrm>
          <a:prstGeom prst="rtTriangl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37192" y="1664208"/>
            <a:ext cx="1975104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664208"/>
            <a:ext cx="1975104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83496" y="1810512"/>
            <a:ext cx="274320" cy="27432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83496" y="18516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56" y="1856231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STREAM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249424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Decoded and printed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as each token arrives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18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Segoe UI Semibold"/>
              </a:rPr>
              <a:t>INSIDE STEP 3  -  REPEATED FOR ALL 27 LAYERS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584448"/>
            <a:ext cx="6903720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584448"/>
            <a:ext cx="4572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37033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Attention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396849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Multi-head latent attention. Keys and values are compressed to a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latent vector; rotary channels are permuted before rotation (YaRN).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480560"/>
            <a:ext cx="6903720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" y="4480560"/>
            <a:ext cx="45720" cy="786384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45994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Router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486460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64 expert logits -&gt; softmax over all -&gt; select top 6.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Softmax runs before the cut, exactly as DeepSeek defines it.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5376672"/>
            <a:ext cx="6903720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5800" y="5376672"/>
            <a:ext cx="4572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549554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2E4F"/>
                </a:solidFill>
                <a:latin typeface="Segoe UI Semibold"/>
              </a:rPr>
              <a:t>Load - Execute - Release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7607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The 6 chosen experts are paged in from SSD, run through SwiGLU 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multi-threaded BF16 kernels, then released once the cache cap is hit.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82127" y="3584448"/>
            <a:ext cx="3621024" cy="259689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83879" y="378561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MODULE STACK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79" y="4151376"/>
            <a:ext cx="3035808" cy="292608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7" y="4201668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6E7F2"/>
                </a:solidFill>
                <a:latin typeface="Segoe UI Semibold"/>
              </a:rPr>
              <a:t>Cli  ·  DeepSeekRunner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4498848"/>
            <a:ext cx="3035808" cy="292608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9327" y="4549140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6E7F2"/>
                </a:solidFill>
                <a:latin typeface="Segoe UI Semibold"/>
              </a:rPr>
              <a:t>Attention  ·  MoeRouter  ·  Rope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9" y="4846320"/>
            <a:ext cx="3035808" cy="292608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7" y="4896612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6E7F2"/>
                </a:solidFill>
                <a:latin typeface="Segoe UI Semibold"/>
              </a:rPr>
              <a:t>ExpertCache  ·  Gemm  ·  Threading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83879" y="5193792"/>
            <a:ext cx="3035808" cy="292608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7" y="5244083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6E7F2"/>
                </a:solidFill>
                <a:latin typeface="Segoe UI Semibold"/>
              </a:rPr>
              <a:t>WeightStore  ·  SafeTensor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3879" y="5541264"/>
            <a:ext cx="3035808" cy="292608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39327" y="5591555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6E7F2"/>
                </a:solidFill>
                <a:latin typeface="Segoe UI Semibold"/>
              </a:rPr>
              <a:t>MappedFile  ·  Json  ·  Config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79" y="5888736"/>
            <a:ext cx="3035808" cy="292608"/>
          </a:xfrm>
          <a:prstGeom prst="rect">
            <a:avLst/>
          </a:prstGeom>
          <a:solidFill>
            <a:srgbClr val="14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9327" y="5939027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6E7F2"/>
                </a:solidFill>
                <a:latin typeface="Segoe UI Semibold"/>
              </a:rPr>
              <a:t>Tokenizer  ·  KvCache  ·  Sampler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2  ·  CO3  ·  MODULES AND 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27632"/>
            <a:ext cx="6967728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709928"/>
            <a:ext cx="184268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0817" y="1709928"/>
            <a:ext cx="35216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8501" y="1709928"/>
            <a:ext cx="8352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011680"/>
            <a:ext cx="6967728" cy="4069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11680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061972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Json,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0817" y="2061972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Structural config parsing; every shape validated at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8501" y="2061972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18588"/>
            <a:ext cx="6967728" cy="406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418588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2468880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MappedFile, SafeTensor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0817" y="2468880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Cross-platform mmap with prefetch and release hints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8501" y="2468880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825496"/>
            <a:ext cx="6967728" cy="4069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825496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2875788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WeightStore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0817" y="2875788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Tensor name to pointer, enforcing shape and dtype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8501" y="2875788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232403"/>
            <a:ext cx="6967728" cy="406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232403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3282696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ExpertCache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0817" y="3282696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Bounded working set: load, execute,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8501" y="3282696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639311"/>
            <a:ext cx="6967728" cy="4069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639311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3689603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Gemm, Threading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0817" y="3689603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AVX2 BF16 kernels; fixed pool with parallel_for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8501" y="3689603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046220"/>
            <a:ext cx="6967728" cy="406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046220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" y="4096511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Rope, Attention, MoeRouter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30817" y="4096511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YaRN rotary, latent attention, expert gating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8501" y="4096511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53128"/>
            <a:ext cx="6967728" cy="4069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453128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4503420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Tokenizer, Sampler, Cli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30817" y="4503420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Byte-level BPE, sampling, interactive loop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8501" y="4503420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Complete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860036"/>
            <a:ext cx="6967728" cy="406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" y="4860036"/>
            <a:ext cx="6967728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" y="4910328"/>
            <a:ext cx="184268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Quantisation, batched prefill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30817" y="4910328"/>
            <a:ext cx="3521651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INT8 / INT4 weights; batch the prompt 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08501" y="4910328"/>
            <a:ext cx="835298" cy="406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Planned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5266944"/>
            <a:ext cx="6967728" cy="2743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36992" y="1627632"/>
            <a:ext cx="3566160" cy="14813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36992" y="1627632"/>
            <a:ext cx="50292" cy="148132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1828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B2E4F"/>
                </a:solidFill>
                <a:latin typeface="Segoe UI Semibold"/>
              </a:rPr>
              <a:t>Build and toolchain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2194560"/>
            <a:ext cx="3017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C++20, CMake, MSYS2/MinGW-w64 or MSVC 2022.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Static runtime, so the .exe is self-contained.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scripts/build.ps1 auto-detects a valid compiler.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36992" y="3255264"/>
            <a:ext cx="3566160" cy="14813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36992" y="3255264"/>
            <a:ext cx="50292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3456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B2E4F"/>
                </a:solidFill>
                <a:latin typeface="Segoe UI Semibold"/>
              </a:rPr>
              <a:t>Testing without the 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3822191"/>
            <a:ext cx="3017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tools/make_test_model.py writes a 100 KB checkpoint with real tensor names 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shapes, so the loader and forward pass are provable before a 31 GB download.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36992" y="4882896"/>
            <a:ext cx="3566160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36992" y="4882896"/>
            <a:ext cx="50292" cy="1261872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508406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B2E4F"/>
                </a:solidFill>
                <a:latin typeface="Segoe UI Semibold"/>
              </a:rPr>
              <a:t>Environment check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449824"/>
            <a:ext cx="3017520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scripts/check_environment.ps1 reports compilers, CMake, Python, disk and RAM in one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pass, and changes nothing.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2  ·  CO4  ·  MEASURED BEHAVIOUR AND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Results and Solution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910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Segoe UI Semibold"/>
              </a:rPr>
              <a:t>MEMORY RESIDENCY  (DeepSeek-V2-Lite, 31 GB checkpoint)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640080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02536"/>
            <a:ext cx="222427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2414" y="2002536"/>
            <a:ext cx="10241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2574" y="2002536"/>
            <a:ext cx="23842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Where it lives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04288"/>
            <a:ext cx="6400800" cy="37947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04288"/>
            <a:ext cx="6400800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354580"/>
            <a:ext cx="222427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Embeddings + output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2414" y="2354580"/>
            <a:ext cx="102412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~840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2574" y="2354580"/>
            <a:ext cx="238429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Mapped, touched every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683764"/>
            <a:ext cx="640080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683764"/>
            <a:ext cx="6400800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734056"/>
            <a:ext cx="222427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Attention, all 27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2414" y="2734056"/>
            <a:ext cx="102412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~740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2574" y="2734056"/>
            <a:ext cx="238429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Mapped, touched every 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63240"/>
            <a:ext cx="6400800" cy="37947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063240"/>
            <a:ext cx="6400800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3113532"/>
            <a:ext cx="222427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Shared experts + dense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2414" y="3113532"/>
            <a:ext cx="102412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~1.0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2574" y="3113532"/>
            <a:ext cx="238429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Mapped, touched every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442716"/>
            <a:ext cx="640080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442716"/>
            <a:ext cx="6400800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3493008"/>
            <a:ext cx="222427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Routed experts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2414" y="3493008"/>
            <a:ext cx="102412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~29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2574" y="3493008"/>
            <a:ext cx="238429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Mapped, ~10% touched per token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822191"/>
            <a:ext cx="6400800" cy="37947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3822191"/>
            <a:ext cx="6400800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3872483"/>
            <a:ext cx="222427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Norms and router 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2414" y="3872483"/>
            <a:ext cx="102412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~15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2574" y="3872483"/>
            <a:ext cx="238429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Copied to RAM as float32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201668"/>
            <a:ext cx="640080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4201668"/>
            <a:ext cx="6400800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4251959"/>
            <a:ext cx="222427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141B25"/>
                </a:solidFill>
                <a:latin typeface="Segoe UI Semibold"/>
              </a:rPr>
              <a:t>KV cache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2414" y="4251959"/>
            <a:ext cx="102412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~450 KB / 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2574" y="4251959"/>
            <a:ext cx="2384298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74553"/>
                </a:solidFill>
                <a:latin typeface="Segoe UI"/>
              </a:rPr>
              <a:t>RAM, scales with context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581144"/>
            <a:ext cx="6400800" cy="2743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159105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Segoe UI Semibold"/>
              </a:rPr>
              <a:t>THROUGHPUT ON A 32 GB LAPTOP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1920240"/>
            <a:ext cx="4142232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60920" y="1920240"/>
            <a:ext cx="45720" cy="7315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7808" y="202996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2E4F"/>
                </a:solidFill>
                <a:latin typeface="Segoe UI Semibold"/>
              </a:rPr>
              <a:t>First few tokens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7808" y="2286000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Several seconds each - nothing cached yet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2743200"/>
            <a:ext cx="4142232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60920" y="2743200"/>
            <a:ext cx="45720" cy="7315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07808" y="28529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2E4F"/>
                </a:solidFill>
                <a:latin typeface="Segoe UI Semibold"/>
              </a:rPr>
              <a:t>Steady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7808" y="3108960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1 - 2 tokens / second once the page cache settles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60920" y="3566160"/>
            <a:ext cx="4142232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60920" y="3566160"/>
            <a:ext cx="45720" cy="7315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07808" y="3675887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2E4F"/>
                </a:solidFill>
                <a:latin typeface="Segoe UI Semibold"/>
              </a:rPr>
              <a:t>Lower 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7808" y="3931920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Steadier SSD traffic, lower rate - not a failure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60920" y="4389120"/>
            <a:ext cx="4142232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60920" y="4389120"/>
            <a:ext cx="45720" cy="7315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7808" y="449884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2E4F"/>
                </a:solidFill>
                <a:latin typeface="Segoe UI Semibold"/>
              </a:rPr>
              <a:t>Bandwidth bound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07808" y="4754880"/>
            <a:ext cx="3749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374553"/>
                </a:solidFill>
                <a:latin typeface="Segoe UI"/>
              </a:rPr>
              <a:t>~5 GB of BF16 traffic per token; RAM is ~10x faster than NVMe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4663440"/>
            <a:ext cx="10817352" cy="14813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4128" y="4846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HOW CORRECTNESS IS ESTABLISHED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" y="517550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Reference logits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" y="544982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FC7DD"/>
                </a:solidFill>
                <a:latin typeface="Segoe UI"/>
              </a:rPr>
              <a:t>tools/reference_logits.py compares token IDs and top-logit ordering against the Hugging Face implementation.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8456" y="517550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Six unit suites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544982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FC7DD"/>
                </a:solidFill>
                <a:latin typeface="Segoe UI"/>
              </a:rPr>
              <a:t>Json, SafeTensor, Kernel, Rope, MoeRouter/Sampler and Attention run with no model files present.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2784" y="517550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Property tests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72784" y="544982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FC7DD"/>
                </a:solidFill>
                <a:latin typeface="Segoe UI"/>
              </a:rPr>
              <a:t>RopeTest asserts the defining property: a query-key dot product depends only on relative position.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97112" y="517550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Shape validation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97112" y="544982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FC7DD"/>
                </a:solidFill>
                <a:latin typeface="Segoe UI"/>
              </a:rPr>
              <a:t>Every tensor is checked against config.json at load; a mismatch names the tensor and both shapes.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2  ·  CO5  ·  COMMUNITY BENEFIT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Impact and Contribution to the Society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4208"/>
            <a:ext cx="69037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64208"/>
            <a:ext cx="45720" cy="10058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1051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B2E4F"/>
                </a:solidFill>
                <a:latin typeface="Segoe UI Semibold"/>
              </a:rPr>
              <a:t>Digital inclusion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2140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A government school computer lab, a rural clinic or a village panchayat office can run a capable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language model on the machines it already owns. No GPU purchase, no upgrade 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79776"/>
            <a:ext cx="6903720" cy="1005840"/>
          </a:xfrm>
          <a:prstGeom prst="rect">
            <a:avLst/>
          </a:prstGeom>
          <a:solidFill>
            <a:srgbClr val="E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79776"/>
            <a:ext cx="45720" cy="100584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B2E4F"/>
                </a:solidFill>
                <a:latin typeface="Segoe UI Semibold"/>
              </a:rPr>
              <a:t>Works without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36976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Once the weights are on disk, nothing goes over the network. Usable where connectivity is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intermittent or absent, which is exactly where support is thinnest.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95344"/>
            <a:ext cx="69037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95344"/>
            <a:ext cx="45720" cy="10058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4164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B2E4F"/>
                </a:solidFill>
                <a:latin typeface="Segoe UI Semibold"/>
              </a:rPr>
              <a:t>Privacy by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5254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Student records, patient notes and legal-aid case details never leave the device. There is no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vendor, no API log and no terms-of-service to negotiate.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10912"/>
            <a:ext cx="6903720" cy="1005840"/>
          </a:xfrm>
          <a:prstGeom prst="rect">
            <a:avLst/>
          </a:prstGeom>
          <a:solidFill>
            <a:srgbClr val="E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010912"/>
            <a:ext cx="45720" cy="100584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57216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B2E4F"/>
                </a:solidFill>
                <a:latin typeface="Segoe UI Semibold"/>
              </a:rPr>
              <a:t>Zero recurring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6811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No per-token billing and no subscription, so a community organisation is never priced out of 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tool it has come to depend 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1664208"/>
            <a:ext cx="3621024" cy="41148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8836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SUSTAINABILITY</a:t>
            </a:r>
          </a:p>
        </p:txBody>
      </p:sp>
      <p:sp>
        <p:nvSpPr>
          <p:cNvPr id="27" name="Oval 26"/>
          <p:cNvSpPr/>
          <p:nvPr/>
        </p:nvSpPr>
        <p:spPr>
          <a:xfrm>
            <a:off x="8183879" y="2350008"/>
            <a:ext cx="91440" cy="91440"/>
          </a:xfrm>
          <a:prstGeom prst="ellips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226771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MIT licensed - free to copy, modify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and redistribute, permanently.</a:t>
            </a:r>
          </a:p>
        </p:txBody>
      </p:sp>
      <p:sp>
        <p:nvSpPr>
          <p:cNvPr id="29" name="Oval 28"/>
          <p:cNvSpPr/>
          <p:nvPr/>
        </p:nvSpPr>
        <p:spPr>
          <a:xfrm>
            <a:off x="8183879" y="3044952"/>
            <a:ext cx="91440" cy="91440"/>
          </a:xfrm>
          <a:prstGeom prst="ellips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296265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No dependencies to rot. No BLAS, no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vcpkg, no runtime Python.</a:t>
            </a:r>
          </a:p>
        </p:txBody>
      </p:sp>
      <p:sp>
        <p:nvSpPr>
          <p:cNvPr id="31" name="Oval 30"/>
          <p:cNvSpPr/>
          <p:nvPr/>
        </p:nvSpPr>
        <p:spPr>
          <a:xfrm>
            <a:off x="8183879" y="3739896"/>
            <a:ext cx="91440" cy="91440"/>
          </a:xfrm>
          <a:prstGeom prst="ellips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3657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Extends the life of existing hardware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rather than adding to e-waste.</a:t>
            </a:r>
          </a:p>
        </p:txBody>
      </p:sp>
      <p:sp>
        <p:nvSpPr>
          <p:cNvPr id="33" name="Oval 32"/>
          <p:cNvSpPr/>
          <p:nvPr/>
        </p:nvSpPr>
        <p:spPr>
          <a:xfrm>
            <a:off x="8183879" y="4434840"/>
            <a:ext cx="91440" cy="91440"/>
          </a:xfrm>
          <a:prstGeom prst="ellips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435254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Reproducible build with a one-command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environment check for new adopters.</a:t>
            </a:r>
          </a:p>
        </p:txBody>
      </p:sp>
      <p:sp>
        <p:nvSpPr>
          <p:cNvPr id="35" name="Oval 34"/>
          <p:cNvSpPr/>
          <p:nvPr/>
        </p:nvSpPr>
        <p:spPr>
          <a:xfrm>
            <a:off x="8183879" y="5129783"/>
            <a:ext cx="91440" cy="91440"/>
          </a:xfrm>
          <a:prstGeom prst="ellipse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504748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Documented failure modes, so a local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D6E7F2"/>
                </a:solidFill>
                <a:latin typeface="Segoe UI"/>
              </a:rPr>
              <a:t>admin can support it without us.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888736"/>
            <a:ext cx="690372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961888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2E4F"/>
                </a:solidFill>
                <a:latin typeface="Segoe UI Semibold"/>
              </a:rPr>
              <a:t>Deployment target: college and school labs, rural health centres, NGO field offices.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2  ·  CO5  ·  WORK DIVISION AND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Contribution of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934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A89"/>
                </a:solidFill>
                <a:latin typeface="Segoe UI"/>
              </a:rPr>
              <a:t>Fill in the names against the work each member owned.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56816"/>
            <a:ext cx="10817352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39112"/>
            <a:ext cx="240246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0605" y="2039112"/>
            <a:ext cx="4602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Module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9246" y="2039112"/>
            <a:ext cx="3044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Deliverable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40864"/>
            <a:ext cx="10817352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40864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391156"/>
            <a:ext cx="2402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141B25"/>
                </a:solidFill>
                <a:latin typeface="Segoe UI Semibold"/>
              </a:rPr>
              <a:t>1.  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605" y="2391156"/>
            <a:ext cx="460260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Model loading - MappedFile, SafeTensor, WeightStore, Config,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9246" y="2391156"/>
            <a:ext cx="304417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Checkpoint loads with full shape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9504"/>
            <a:ext cx="1081735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889504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939796"/>
            <a:ext cx="2402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141B25"/>
                </a:solidFill>
                <a:latin typeface="Segoe UI Semibold"/>
              </a:rPr>
              <a:t>2.  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0605" y="2939796"/>
            <a:ext cx="460260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Compute kernels - Gemm BF16/AVX2, Threading pool, KvCache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9246" y="2939796"/>
            <a:ext cx="304417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Multi-threaded forward 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438144"/>
            <a:ext cx="10817352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438144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3488436"/>
            <a:ext cx="2402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141B25"/>
                </a:solidFill>
                <a:latin typeface="Segoe UI Semibold"/>
              </a:rPr>
              <a:t>3.  ____________________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0605" y="3488436"/>
            <a:ext cx="460260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Model core - Attention, Rope (YaRN), MoeRouter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9246" y="3488436"/>
            <a:ext cx="304417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Architecture matches the reference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986784"/>
            <a:ext cx="1081735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986784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4037076"/>
            <a:ext cx="2402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141B25"/>
                </a:solidFill>
                <a:latin typeface="Segoe UI Semibold"/>
              </a:rPr>
              <a:t>4.  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605" y="4037076"/>
            <a:ext cx="460260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Streaming - ExpertCache, LRU policy, prefetch and release hints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9246" y="4037076"/>
            <a:ext cx="304417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Runs 31 GB within a bounded RAM budget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535424"/>
            <a:ext cx="10817352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4535424"/>
            <a:ext cx="10817352" cy="10972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4585716"/>
            <a:ext cx="2402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141B25"/>
                </a:solidFill>
                <a:latin typeface="Segoe UI Semibold"/>
              </a:rPr>
              <a:t>5.  ____________________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0605" y="4585716"/>
            <a:ext cx="460260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Interface and validation - Tokenizer, Sampler, Cli, tests, build scripts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9246" y="4585716"/>
            <a:ext cx="304417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374553"/>
                </a:solidFill>
                <a:latin typeface="Segoe UI"/>
              </a:rPr>
              <a:t>Usable CLI, six passing test suites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084064"/>
            <a:ext cx="10817352" cy="2743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120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Segoe UI Semibold"/>
              </a:rPr>
              <a:t>PROJECT TIMELINE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742432"/>
            <a:ext cx="10817352" cy="32004"/>
          </a:xfrm>
          <a:prstGeom prst="rect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4088" y="5669280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46811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2E4F"/>
                </a:solidFill>
                <a:latin typeface="Segoe UI Semibold"/>
              </a:rPr>
              <a:t>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070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Problem study,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field survey</a:t>
            </a:r>
          </a:p>
        </p:txBody>
      </p:sp>
      <p:sp>
        <p:nvSpPr>
          <p:cNvPr id="45" name="Oval 44"/>
          <p:cNvSpPr/>
          <p:nvPr/>
        </p:nvSpPr>
        <p:spPr>
          <a:xfrm>
            <a:off x="2916936" y="5669280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98648" y="546811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2E4F"/>
                </a:solidFill>
                <a:latin typeface="Segoe UI Semibold"/>
              </a:rP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98648" y="59070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Literature survey,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architecture design</a:t>
            </a:r>
          </a:p>
        </p:txBody>
      </p:sp>
      <p:sp>
        <p:nvSpPr>
          <p:cNvPr id="48" name="Oval 47"/>
          <p:cNvSpPr/>
          <p:nvPr/>
        </p:nvSpPr>
        <p:spPr>
          <a:xfrm>
            <a:off x="5129783" y="5669280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11496" y="546811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2E4F"/>
                </a:solidFill>
                <a:latin typeface="Segoe UI Semibold"/>
              </a:rPr>
              <a:t>Phase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11496" y="59070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Core implementation,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unit testing</a:t>
            </a:r>
          </a:p>
        </p:txBody>
      </p:sp>
      <p:sp>
        <p:nvSpPr>
          <p:cNvPr id="51" name="Oval 50"/>
          <p:cNvSpPr/>
          <p:nvPr/>
        </p:nvSpPr>
        <p:spPr>
          <a:xfrm>
            <a:off x="7342631" y="5669280"/>
            <a:ext cx="182880" cy="182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24344" y="546811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B2E4F"/>
                </a:solidFill>
                <a:latin typeface="Segoe UI Semibold"/>
              </a:rPr>
              <a:t>Phase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24344" y="59070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Streaming, tuning,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74553"/>
                </a:solidFill>
                <a:latin typeface="Segoe UI"/>
              </a:rPr>
              <a:t>reference validation</a:t>
            </a:r>
          </a:p>
        </p:txBody>
      </p:sp>
      <p:sp>
        <p:nvSpPr>
          <p:cNvPr id="54" name="Oval 53"/>
          <p:cNvSpPr/>
          <p:nvPr/>
        </p:nvSpPr>
        <p:spPr>
          <a:xfrm>
            <a:off x="9555480" y="5669280"/>
            <a:ext cx="182880" cy="182880"/>
          </a:xfrm>
          <a:prstGeom prst="ellipse">
            <a:avLst/>
          </a:prstGeom>
          <a:solidFill>
            <a:srgbClr val="D5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37192" y="546811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A89"/>
                </a:solidFill>
                <a:latin typeface="Segoe UI Semibold"/>
              </a:rPr>
              <a:t>Phase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7192" y="59070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Field deployment,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user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105156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Segoe UI Semibold"/>
              </a:rPr>
              <a:t>REVIEW 2  ·  SUMMARY, NEXT STEPS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2E4F"/>
                </a:solidFill>
                <a:latin typeface="Segoe UI Semibold"/>
              </a:rPr>
              <a:t>Conclusion and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005840" cy="41148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A89"/>
                </a:solidFill>
                <a:latin typeface="Segoe UI"/>
              </a:rPr>
              <a:t>LiteMind  |  22SEE704 Engineering Project in Community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A89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0B2E4F"/>
                </a:solidFill>
                <a:latin typeface="Segoe UI Semibold"/>
              </a:rPr>
              <a:t>A 15.7-billion-parameter mixture-of-experts model runs on a laptop with no GPU, no internet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0B2E4F"/>
                </a:solidFill>
                <a:latin typeface="Segoe UI Semibold"/>
              </a:rPr>
              <a:t>and no recurring cost, by treating the router's own decisions as a paging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Segoe UI Semibold"/>
              </a:rPr>
              <a:t>WHAT WAS ACHIEVED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200400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65836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>
                <a:solidFill>
                  <a:srgbClr val="374553"/>
                </a:solidFill>
                <a:latin typeface="Segoe UI"/>
              </a:rPr>
              <a:t>Complete DeepSeek-V2 forward pass in C++20 with zero third-party libraries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545311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6439"/>
            <a:ext cx="65836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>
                <a:solidFill>
                  <a:srgbClr val="374553"/>
                </a:solidFill>
                <a:latin typeface="Segoe UI"/>
              </a:rPr>
              <a:t>Latent attention, YaRN rotary permutation and MoE gating validated against the reference implementation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03679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84807"/>
            <a:ext cx="65836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>
                <a:solidFill>
                  <a:srgbClr val="374553"/>
                </a:solidFill>
                <a:latin typeface="Segoe UI"/>
              </a:rPr>
              <a:t>31 GB of weights served from a bounded RAM budget through an LRU expert cache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548591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29719"/>
            <a:ext cx="65836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>
                <a:solidFill>
                  <a:srgbClr val="374553"/>
                </a:solidFill>
                <a:latin typeface="Segoe UI"/>
              </a:rPr>
              <a:t>Reproducible Windows build, six unit suites and a 100 KB synthetic model for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01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FUTURE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30368"/>
            <a:ext cx="1673352" cy="8595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230368"/>
            <a:ext cx="1673352" cy="457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537667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2E4F"/>
                </a:solidFill>
                <a:latin typeface="Segoe UI Semibold"/>
              </a:rPr>
              <a:t>Quantisation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63270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74553"/>
                </a:solidFill>
                <a:latin typeface="Segoe UI"/>
              </a:rPr>
              <a:t>INT8 / INT4 to cut SSD traffic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9736" y="5230368"/>
            <a:ext cx="1673352" cy="8595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9736" y="5230368"/>
            <a:ext cx="1673352" cy="457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537667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2E4F"/>
                </a:solidFill>
                <a:latin typeface="Segoe UI Semibold"/>
              </a:rPr>
              <a:t>Batched prefill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63270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74553"/>
                </a:solidFill>
                <a:latin typeface="Segoe UI"/>
              </a:rPr>
              <a:t>Long prompts in one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5230368"/>
            <a:ext cx="1673352" cy="8595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3672" y="5230368"/>
            <a:ext cx="1673352" cy="457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537667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2E4F"/>
                </a:solidFill>
                <a:latin typeface="Segoe UI Semibold"/>
              </a:rPr>
              <a:t>Absorbed MLA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563270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74553"/>
                </a:solidFill>
                <a:latin typeface="Segoe UI"/>
              </a:rPr>
              <a:t>~7x smaller KV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5230368"/>
            <a:ext cx="1673352" cy="8595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07608" y="5230368"/>
            <a:ext cx="1673352" cy="45720"/>
          </a:xfrm>
          <a:prstGeom prst="rect">
            <a:avLst/>
          </a:prstGeom>
          <a:solidFill>
            <a:srgbClr val="D97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3912" y="537667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2E4F"/>
                </a:solidFill>
                <a:latin typeface="Segoe UI Semibold"/>
              </a:rPr>
              <a:t>Field study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563270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74553"/>
                </a:solidFill>
                <a:latin typeface="Segoe UI"/>
              </a:rPr>
              <a:t>Deploy and measure real 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7" y="1645920"/>
            <a:ext cx="3621024" cy="44439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18653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97E24"/>
                </a:solidFill>
                <a:latin typeface="Segoe UI Semibold"/>
              </a:rPr>
              <a:t>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2231136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DeepSeek-AI. DeepSeek-V2: A Strong, Economical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and Efficient Mixture-of-Experts Language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Model. arXiv:2405.04434, 2024.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299008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Peng et al. YaRN: Efficient Context Window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Extension of Large Language Models.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ICLR 2024.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749039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Sheng et al. FlexGen: High-Throughput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Generative Inference with a Single GPU.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ICML 2023.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507992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Alizadeh et al. LLM in a Flash: Efficient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Inference with Limited Memory. ACL 2024.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5266944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Shazeer et al. Outrageously Large Neural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Networks: The Sparsely-Gated Mixture-of-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D6E7F2"/>
                </a:solidFill>
                <a:latin typeface="Segoe UI"/>
              </a:rPr>
              <a:t>Experts Layer. ICLR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